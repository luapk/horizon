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12700"/>
          </a:xfrm>
          <a:prstGeom prst="rect">
            <a:avLst/>
          </a:prstGeom>
          <a:solidFill>
            <a:srgbClr val="2A33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39DFF"/>
                </a:solidFill>
                <a:latin typeface="Consolas"/>
              </a:rPr>
              <a:t>MULTI-BRAND FUTURES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0">
                <a:solidFill>
                  <a:srgbClr val="F5F7FA"/>
                </a:solidFill>
                <a:latin typeface="Georgia"/>
              </a:rPr>
              <a:t>Horizon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1">
                <a:solidFill>
                  <a:srgbClr val="8FB8FF"/>
                </a:solidFill>
                <a:latin typeface="Georgia"/>
              </a:rPr>
              <a:t>Enterprise integration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CFE0"/>
                </a:solidFill>
                <a:latin typeface="Calibri"/>
              </a:rPr>
              <a:t>Technical architecture · AI compliance · deployment at scale · unit economics · data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4480560" cy="86868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75504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8B97AF"/>
                </a:solidFill>
                <a:latin typeface="Consolas"/>
              </a:rPr>
              <a:t>PREPARED FOR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Omnicom — Group IT, Architecture &amp;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5029200"/>
            <a:ext cx="5852160" cy="86868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5175504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8B97AF"/>
                </a:solidFill>
                <a:latin typeface="Consolas"/>
              </a:rPr>
              <a:t>SCOPE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How the platform is built, secured, governed and run at holding-company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06C85"/>
                </a:solidFill>
                <a:latin typeface="Consolas"/>
              </a:rPr>
              <a:t>Confidential — commercial discussion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9DFF"/>
                </a:solidFill>
                <a:latin typeface="Consolas"/>
              </a:rPr>
              <a:t>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A foresight engine that runs for any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C7CFE0"/>
                </a:solidFill>
                <a:latin typeface="Calibri"/>
              </a:rPr>
              <a:t>Horizon scans live sources for weak signals, clusters them into structural drivers, and writes evidence-cited future scenarios with a strategic impact matrix — per brand, on demand. It is built as a repeatable pipeline, not a bespoke report, so the same engine serves every agency and client in the 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42616"/>
            <a:ext cx="38100" cy="1344168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697480"/>
            <a:ext cx="307238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Purpose-built for a holding company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One engine, many brands and agencies.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Each scan is defined by a brand config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no code changes to onboard a new client.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5146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642616"/>
            <a:ext cx="38100" cy="1344168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697480"/>
            <a:ext cx="307238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Cost known before you spend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Every scan shows a per-stage cost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estimate up front; actual token spend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is metered and reconciled after.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1460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42616"/>
            <a:ext cx="38100" cy="1344168"/>
          </a:xfrm>
          <a:prstGeom prst="rect">
            <a:avLst/>
          </a:prstGeom>
          <a:solidFill>
            <a:srgbClr val="F2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697480"/>
            <a:ext cx="307238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Grounded, not generative vibes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Scenarios cite the exact signals behind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them; uncited output is flagged.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Absence &amp; counter-signals surfaced.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151B2C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39DFF"/>
                </a:solidFill>
                <a:latin typeface="Consolas"/>
              </a:rPr>
              <a:t>WHAT THIS DOCUMENT COVERS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FE0"/>
                </a:solidFill>
                <a:latin typeface="Calibri"/>
              </a:rPr>
              <a:t>Tech stack and the AI pipeline · token usage and unit economics with worked examples · pricing and spend governance · data security and key custody · AI compliance (EU AI Act, GDPR) · and a phased path to deploy across Omnicom agencies with SSO, multi-tenancy and enterprise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FB8FF"/>
                </a:solidFill>
                <a:latin typeface="Consolas"/>
              </a:rPr>
              <a:t>02 · THE INTELLIGENCE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From raw sources to a decision-ready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971446" cy="22860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971446" cy="381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FB8FF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2316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52928"/>
            <a:ext cx="169712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Weak signals extracted from
live sources, tagged by STEEP,
geography,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238" y="2834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06C85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7558" y="1920240"/>
            <a:ext cx="1971446" cy="22860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7558" y="1920240"/>
            <a:ext cx="1971446" cy="381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3862" y="210312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B39DFF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3862" y="242316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3862" y="2852928"/>
            <a:ext cx="169712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Embedding-based grouping —
stable, data-driven, not LLM
free-association.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0716" y="2834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06C85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5036" y="1920240"/>
            <a:ext cx="1971446" cy="22860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5036" y="1920240"/>
            <a:ext cx="1971446" cy="38100"/>
          </a:xfrm>
          <a:prstGeom prst="rect">
            <a:avLst/>
          </a:prstGeom>
          <a:solidFill>
            <a:srgbClr val="F2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1340" y="210312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2A6C9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1340" y="242316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DRIVERS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1340" y="2852928"/>
            <a:ext cx="169712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The structural forces the
clusters reveal, synthesised
as a distinct reasoning pass.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195" y="2834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06C85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2515" y="1920240"/>
            <a:ext cx="1971446" cy="22860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2515" y="1920240"/>
            <a:ext cx="1971446" cy="38100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8819" y="210312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93E6C3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8819" y="242316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SCENARIOS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8819" y="2852928"/>
            <a:ext cx="169712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Evidence-cited narratives —
5 probable · 3 deep · 1
cautionary 'Cassandra'.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5673" y="28346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06C85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9993" y="1920240"/>
            <a:ext cx="1971446" cy="22860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49993" y="1920240"/>
            <a:ext cx="1971446" cy="38100"/>
          </a:xfrm>
          <a:prstGeom prst="rect">
            <a:avLst/>
          </a:prstGeom>
          <a:solidFill>
            <a:srgbClr val="FFC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210312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C29E"/>
                </a:solidFill>
                <a:latin typeface="Consola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2423160"/>
            <a:ext cx="16971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6297" y="2852928"/>
            <a:ext cx="169712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Impact matrix across business
units + a Now / Monitor /
Prepare action timeline.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F5F7FA"/>
                </a:solidFill>
                <a:latin typeface="Georgia"/>
              </a:rPr>
              <a:t>Two analytical moves competitors miss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C7CFE0"/>
                </a:solidFill>
                <a:latin typeface="Calibri"/>
              </a:rPr>
              <a:t>Absence signals — what the evidence implies should exist but doesn't — and counter-signals that cut against the corpus consensus are produced by a dedicated pass over the whole signal set, then marked as derived (never overstated as 'verified'). Every scenario carries an explicit shadow side and a 'killer assumption' stating what would prove it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9DFF"/>
                </a:solidFill>
                <a:latin typeface="Consolas"/>
              </a:rPr>
              <a:t>03 ·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A typed, layered, provider-agnostic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38100" cy="9144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934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FB8FF"/>
                </a:solidFill>
                <a:latin typeface="Consolas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81912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React 18 + Vite (TypeScript)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9280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Single-page app. Brand setup, scan launcher with live cost estimate, results workspace, canvas signal globe. No secrets client-side.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963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38100" cy="9144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42616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9DFF"/>
                </a:solidFill>
                <a:latin typeface="Consolas"/>
              </a:rPr>
              <a:t>API +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15184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Node.js + Express (TypeScript)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2608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Session auth, brand &amp; scan REST API, background scan runner with per-stage progress, spend-cap enforcement, usage metering.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958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9584"/>
            <a:ext cx="38100" cy="914400"/>
          </a:xfrm>
          <a:prstGeom prst="rect">
            <a:avLst/>
          </a:prstGeom>
          <a:solidFill>
            <a:srgbClr val="F2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2A6C9"/>
                </a:solidFill>
                <a:latin typeface="Consolas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648456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Ingest → Extract → Cluster → Gap → Drivers → Scenarios →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59352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Deterministic, resumable stages. Bounded concurrency, per-document fault tolerance, one retry on malformed model output.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6285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62856"/>
            <a:ext cx="38100" cy="914400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3E6C3"/>
                </a:solidFill>
                <a:latin typeface="Consolas"/>
              </a:rPr>
              <a:t>PROVIDER ABSTRACTION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68172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Search · LLM · Embeddings — swappable behind interfaces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992624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Anthropic Claude (LLM) · Tavily (search) · Voyage (embeddings). Each has a mock impl; models are config, not hard-coded.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9612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596128"/>
            <a:ext cx="38100" cy="914400"/>
          </a:xfrm>
          <a:prstGeom prst="rect">
            <a:avLst/>
          </a:prstGeom>
          <a:solidFill>
            <a:srgbClr val="FFC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42432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C29E"/>
                </a:solidFill>
                <a:latin typeface="Consolas"/>
              </a:rPr>
              <a:t>DATA + SHARED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715000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SQLite → PostgreSQL · Zod schema shared FE/BE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6025896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One validated schema is the single source of truth for both ends. Pricing &amp; cost model live here too.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E6C3"/>
                </a:solidFill>
                <a:latin typeface="Consolas"/>
              </a:rPr>
              <a:t>04 · THE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Right-sized model for each stage — with a 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286000"/>
                <a:gridCol w="2194560"/>
                <a:gridCol w="3931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STAGE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ENGINE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MODEL TIER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WHY THIS TIER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Query design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3E6C3"/>
                          </a:solidFill>
                          <a:latin typeface="Consolas"/>
                        </a:rPr>
                        <a:t>Haiku (fast)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Cheap, high-volume expansion of search queries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Signal extraction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3E6C3"/>
                          </a:solidFill>
                          <a:latin typeface="Consolas"/>
                        </a:rPr>
                        <a:t>Haiku (fast)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One call per document; volume dominates — keep it cheap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Dedupe / cluster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Voyage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FB8FF"/>
                          </a:solidFill>
                          <a:latin typeface="Consolas"/>
                        </a:rPr>
                        <a:t>Embeddings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Vector similarity, not tokens — near-free, deterministic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Gap analysis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39DFF"/>
                          </a:solidFill>
                          <a:latin typeface="Consolas"/>
                        </a:rPr>
                        <a:t>Sonnet (synthesis)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Reasons over the whole corpus — needs a stronger model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Driver synthesis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39DFF"/>
                          </a:solidFill>
                          <a:latin typeface="Consolas"/>
                        </a:rPr>
                        <a:t>Sonnet (synthesis)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Judgement task; abstracts clusters into forces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Scenario generation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39DFF"/>
                          </a:solidFill>
                          <a:latin typeface="Consolas"/>
                        </a:rPr>
                        <a:t>Sonnet / Opus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The craft layer; Opus/Fable optional for board-grade prose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Strategy matrix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39DFF"/>
                          </a:solidFill>
                          <a:latin typeface="Consolas"/>
                        </a:rPr>
                        <a:t>Sonnet (synthesis)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Scores scenarios × business units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51B2C"/>
          </a:solidFill>
          <a:ln w="12700">
            <a:solidFill>
              <a:srgbClr val="B3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9DFF"/>
                </a:solidFill>
                <a:latin typeface="Consolas"/>
              </a:rPr>
              <a:t>HUMAN-IN-THE-LOOP  </a:t>
            </a:r>
            <a:r>
              <a:rPr sz="1200" b="0">
                <a:solidFill>
                  <a:srgbClr val="C7CFE0"/>
                </a:solidFill>
                <a:latin typeface="Calibri"/>
              </a:rPr>
              <a:t>Scenario output is designed for a review gate before publication. Citations are parsed from the prose and validated against the real signal set; any scenario that cites nothing is auto-downgraded and flagged UNGROUNDED in the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C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C29E"/>
                </a:solidFill>
                <a:latin typeface="Consolas"/>
              </a:rPr>
              <a:t>05 · TOKEN USAGE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Every stage is metered; cost scales with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7CFE0"/>
                </a:solidFill>
                <a:latin typeface="Calibri"/>
              </a:rPr>
              <a:t>Cost per scan is a function of scope (queries × docs, driver &amp; scenario counts). Figures below are the platform's own pre-scan estimate — a low/high band driven by retrieval yield and model output variance.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1088136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103120"/>
                <a:gridCol w="2011680"/>
                <a:gridCol w="22860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SCAN TIER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QUERIES × DOCS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DRIVERS / SCEN.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EST. COST / SCAN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DOMINANT COST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Light — pilot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onsolas"/>
                        </a:rPr>
                        <a:t>10 × 4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onsolas"/>
                        </a:rPr>
                        <a:t>6 / 6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3E6C3"/>
                          </a:solidFill>
                          <a:latin typeface="Consolas"/>
                        </a:rPr>
                        <a:t>$0.39 – $0.61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B97AF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Standard — default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onsolas"/>
                        </a:rPr>
                        <a:t>20 × 6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onsolas"/>
                        </a:rPr>
                        <a:t>9 / 9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FB8FF"/>
                          </a:solidFill>
                          <a:latin typeface="Consolas"/>
                        </a:rPr>
                        <a:t>$0.62 – $1.13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B97AF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Deep — board-grade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onsolas"/>
                        </a:rPr>
                        <a:t>40 × 10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onsolas"/>
                        </a:rPr>
                        <a:t>12 / 12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39DFF"/>
                          </a:solidFill>
                          <a:latin typeface="Consolas"/>
                        </a:rPr>
                        <a:t>$0.96 – $2.41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8B97AF"/>
                          </a:solidFill>
                          <a:latin typeface="Calibri"/>
                        </a:rPr>
                        <a:t>Extraction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922776"/>
            <a:ext cx="38100" cy="1709928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977640"/>
            <a:ext cx="494690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Worked example — one Standard scan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~120 doc extractions on Haiku (input-heavy,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short output) ≈ pennies each.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9 scenarios on Sonnet dominate — long,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reasoned prose is the real cost centre.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Embeddings for dedupe/cluster ≈ $0.001–0.01.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Search API is a flat per-query line item.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922776"/>
            <a:ext cx="38100" cy="1709928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3977640"/>
            <a:ext cx="494690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Model tiering keeps it cheap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Haiku  $1 / $5 per M tokens — extraction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Sonnet $3 / $15 — synthesis &amp; scenarios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Opus   $5 / $25 — optional board-grade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Fable  $10 / $50 — deepest reasoning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Voyage embeddings ≈ $0.06 / M — clustering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Volume runs on the cheapest capable tier.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E6C3"/>
                </a:solidFill>
                <a:latin typeface="Consolas"/>
              </a:rPr>
              <a:t>06 · PRICING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Predictable monthly spend, hard-capped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7CFE0"/>
                </a:solidFill>
                <a:latin typeface="Calibri"/>
              </a:rPr>
              <a:t>Provider cost is pass-through and linear in scan volume. At a Standard-scan midpoint of ~$0.88, group-wide usage stays modest even at high cadence: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10881360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291840"/>
                <a:gridCol w="4297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MONTHLY SCAN VOLUME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≈ PROVIDER COST / MONTH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B97AF"/>
                          </a:solidFill>
                          <a:latin typeface="Consolas"/>
                        </a:rPr>
                        <a:t>TYPICAL USE</a:t>
                      </a:r>
                    </a:p>
                  </a:txBody>
                  <a:tcPr marL="82296" marR="82296" marT="36576" marB="36576" anchor="ctr">
                    <a:solidFill>
                      <a:srgbClr val="151B2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100 scans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93E6C3"/>
                          </a:solidFill>
                          <a:latin typeface="Consolas"/>
                        </a:rPr>
                        <a:t>~ $90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Single agency, weekly brand reviews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500 scans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8FB8FF"/>
                          </a:solidFill>
                          <a:latin typeface="Consolas"/>
                        </a:rPr>
                        <a:t>~ $440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Several agencies, active pitch support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2,000 scans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B39DFF"/>
                          </a:solidFill>
                          <a:latin typeface="Consolas"/>
                        </a:rPr>
                        <a:t>~ $1,750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Network-wide, embedded in planning</a:t>
                      </a:r>
                    </a:p>
                  </a:txBody>
                  <a:tcPr marL="82296" marR="82296" marT="36576" marB="36576" anchor="ctr">
                    <a:solidFill>
                      <a:srgbClr val="05070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F7FA"/>
                          </a:solidFill>
                          <a:latin typeface="Calibri"/>
                        </a:rPr>
                        <a:t>10,000 scans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2A6C9"/>
                          </a:solidFill>
                          <a:latin typeface="Consolas"/>
                        </a:rPr>
                        <a:t>~ $8,750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C7CFE0"/>
                          </a:solidFill>
                          <a:latin typeface="Calibri"/>
                        </a:rPr>
                        <a:t>Holding-company standard workflow</a:t>
                      </a:r>
                    </a:p>
                  </a:txBody>
                  <a:tcPr marL="82296" marR="82296" marT="36576" marB="36576" anchor="ctr">
                    <a:solidFill>
                      <a:srgbClr val="0E132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3977639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105655"/>
            <a:ext cx="38100" cy="1527048"/>
          </a:xfrm>
          <a:prstGeom prst="rect">
            <a:avLst/>
          </a:prstGeom>
          <a:solidFill>
            <a:srgbClr val="FFC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160519"/>
            <a:ext cx="307238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Pre-scan estimate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The low/high band is shown before 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scan runs and recalculates live 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scope changes — no bill surprises.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77639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4105655"/>
            <a:ext cx="38100" cy="1527048"/>
          </a:xfrm>
          <a:prstGeom prst="rect">
            <a:avLst/>
          </a:prstGeom>
          <a:solidFill>
            <a:srgbClr val="FF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60519"/>
            <a:ext cx="307238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Hard spend caps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Per-scan ceiling blocks any scan whose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estimate exceeds it. Monthly budget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halts new scans once the cap is hit.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77639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4105655"/>
            <a:ext cx="38100" cy="1527048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4160519"/>
            <a:ext cx="307238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Per-call metering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Actual tokens, searches and embeddings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are recorded per scan and reconciled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against the estimate for chargeback.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9D9D"/>
                </a:solidFill>
                <a:latin typeface="Consolas"/>
              </a:rPr>
              <a:t>07 · 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Secrets server-side, tenants isolated, spend fenced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38100" cy="1371600"/>
          </a:xfrm>
          <a:prstGeom prst="rect">
            <a:avLst/>
          </a:prstGeom>
          <a:solidFill>
            <a:srgbClr val="FF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5506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Key custody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8424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Provider API keys live only in the backend environment — never shipped to the browser, never in scan output or logs. Rotate without redeploying the client.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26664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26664"/>
            <a:ext cx="38100" cy="1371600"/>
          </a:xfrm>
          <a:prstGeom prst="rect">
            <a:avLst/>
          </a:prstGeom>
          <a:solidFill>
            <a:srgbClr val="FF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17296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0215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Server-verified sessions today (bcrypt-hashed secret, signed httpOnly cookie). Roadmap: SSO via Okta / Microsoft Entra with SCIM provisioning.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4456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44568"/>
            <a:ext cx="38100" cy="1371600"/>
          </a:xfrm>
          <a:prstGeom prst="rect">
            <a:avLst/>
          </a:prstGeom>
          <a:solidFill>
            <a:srgbClr val="FF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690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Transport &amp; at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020056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TLS in transit; database encryptable at rest. Self-host in Omnicom's own cloud/VPC — no third party sees a brand's corpus except the model providers under contract.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087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508760"/>
            <a:ext cx="38100" cy="13716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165506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Tenant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198424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Brands and scans are row-scoped; the multi-tenant model isolates each agency and client so one team cannot see another's work or spend.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26664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026664"/>
            <a:ext cx="38100" cy="13716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17296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Provider data posture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350215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Anthropic does not train on API data and offers configurable / zero-retention options; Bedrock or Vertex deployment keeps traffic inside your cloud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4456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544568"/>
            <a:ext cx="38100" cy="13716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469087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Spend as a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5020056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Per-scan and monthly caps are a security control as much as a cost one — they bound blast radius if a credential or account is misused.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39DFF"/>
                </a:solidFill>
                <a:latin typeface="Consolas"/>
              </a:rPr>
              <a:t>08 · AI COMPLIANCE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Built for transparency, provenance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3502152" cy="381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27632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EU AI Act posture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93392"/>
            <a:ext cx="3136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A decision-support / foresight tool, not automated decisioning on people — a limited-risk, transparency-obligation profile. Outputs are advisory and human-reviewed.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46304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463040"/>
            <a:ext cx="3502152" cy="381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27632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Provenance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93392"/>
            <a:ext cx="3136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Every scenario links to the exact signals it cites; each signal keeps its source. Analysts can trace any claim back to its origin — no black-box assertions.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63040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463040"/>
            <a:ext cx="3502152" cy="38100"/>
          </a:xfrm>
          <a:prstGeom prst="rect">
            <a:avLst/>
          </a:prstGeom>
          <a:solidFill>
            <a:srgbClr val="F2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627632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Honest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93392"/>
            <a:ext cx="3136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Confidence is evidence-assessed, not cosmetic. Derived items (absences, counter-signals) are never labelled 'verified'; uncited scenarios are flagged UNGROUNDED.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45536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145536"/>
            <a:ext cx="3502152" cy="38100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310128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GDPR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675888"/>
            <a:ext cx="3136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Scans target market/industry signals, not personal data. Self-hosting plus provider no-train / retention controls keep any incidental data inside your governance.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3145536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3145536"/>
            <a:ext cx="3502152" cy="38100"/>
          </a:xfrm>
          <a:prstGeom prst="rect">
            <a:avLst/>
          </a:prstGeom>
          <a:solidFill>
            <a:srgbClr val="FFC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310128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Human review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75888"/>
            <a:ext cx="3136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The architecture places a person between generation and publication. Nothing goes to a client deck unreviewed; the tool accelerates analysts, it doesn't replace them.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3145536"/>
            <a:ext cx="3502152" cy="1481328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3145536"/>
            <a:ext cx="3502152" cy="38100"/>
          </a:xfrm>
          <a:prstGeom prst="rect">
            <a:avLst/>
          </a:prstGeom>
          <a:solidFill>
            <a:srgbClr val="FF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3310128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Model auditability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675888"/>
            <a:ext cx="3136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Model and version are pinned per stage and recorded with usage; runs are reproducible and attributable for internal audit and client assurance.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FB8FF"/>
                </a:solidFill>
                <a:latin typeface="Consolas"/>
              </a:rPr>
              <a:t>09 · DEPLOYING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One platform, every agency and client — isolated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CFE0"/>
                </a:solidFill>
                <a:latin typeface="Calibri"/>
              </a:rPr>
              <a:t>The holding-company shape maps cleanly onto a multi-tenant hierarchy: </a:t>
            </a:r>
            <a:r>
              <a:rPr sz="1250" b="1">
                <a:solidFill>
                  <a:srgbClr val="F5F7FA"/>
                </a:solidFill>
                <a:latin typeface="Calibri"/>
              </a:rPr>
              <a:t>Group → Agency → Client brand →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257800" cy="12801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38100" cy="128016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Multi-tenancy &amp;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2316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Per-agency and per-brand isolation with role-based access — analyst, reviewer, admin. Chargeback by tenant from metered usage.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5257800" cy="12801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38100" cy="128016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5204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84048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SSO through Okta / Microsoft Entra, SCIM user provisioning, group-to-role mapping — no separate password estate.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00600"/>
            <a:ext cx="5257800" cy="12801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00600"/>
            <a:ext cx="38100" cy="128016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93776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Data layer for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25780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PostgreSQL replaces SQLite; a managed job queue runs scans as durable background workers with retries and horizontal scale.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965960"/>
            <a:ext cx="5257800" cy="12801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965960"/>
            <a:ext cx="38100" cy="128016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Cloud &amp; networking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42316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Self-hosted in Omnicom's cloud (AWS/Azure/GCP) inside a VPC. Private egress to model providers; optional Bedrock / Vertex to keep traffic in-tenant.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83280"/>
            <a:ext cx="5257800" cy="12801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383280"/>
            <a:ext cx="38100" cy="128016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5204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Integration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384048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Clean REST API for embedding scans into planning tools, DAM, or agency portals; export to the formats client teams already 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00600"/>
            <a:ext cx="5257800" cy="128016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800600"/>
            <a:ext cx="38100" cy="128016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493776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F7FA"/>
                </a:solidFill>
                <a:latin typeface="Calibri"/>
              </a:rPr>
              <a:t>Observability &amp; FinOps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525780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CFE0"/>
                </a:solidFill>
                <a:latin typeface="Calibri"/>
              </a:rPr>
              <a:t>Central dashboards for usage, cost per tenant, cache-hit rates and error budgets; caps and alerts wired to your FinOps 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3E6C3"/>
                </a:solidFill>
                <a:latin typeface="Consolas"/>
              </a:rPr>
              <a:t>10 ·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0">
                <a:solidFill>
                  <a:srgbClr val="F5F7FA"/>
                </a:solidFill>
                <a:latin typeface="Georgia"/>
              </a:rPr>
              <a:t>A phased path from pilot to group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HORIZON ENGINE  ·  CONFIDENTIAL  ·  PREPARED FOR OMNICOM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606C85"/>
                </a:solidFill>
                <a:latin typeface="Consola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548890" cy="27432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48890" cy="38100"/>
          </a:xfrm>
          <a:prstGeom prst="rect">
            <a:avLst/>
          </a:prstGeom>
          <a:solidFill>
            <a:srgbClr val="93E6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228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3E6C3"/>
                </a:solidFill>
                <a:latin typeface="Consolas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228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Pilot — 4–6 wks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222885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One agency, one cloud account.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Self-hosted, real API keys, capped spend.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Prove value on live brands.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7570" y="1554480"/>
            <a:ext cx="2548890" cy="27432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7570" y="1554480"/>
            <a:ext cx="2548890" cy="38100"/>
          </a:xfrm>
          <a:prstGeom prst="rect">
            <a:avLst/>
          </a:prstGeom>
          <a:solidFill>
            <a:srgbClr val="8F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450" y="1737360"/>
            <a:ext cx="2228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8FB8FF"/>
                </a:solidFill>
                <a:latin typeface="Consolas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2057400"/>
            <a:ext cx="2228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Enterprise-ready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560320"/>
            <a:ext cx="222885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SSO + SCIM, multi-tenancy, Postgres.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Job queue, RBAC, per-tenant chargeback.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Security review &amp; pen 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554480"/>
            <a:ext cx="2548890" cy="27432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5060" y="1554480"/>
            <a:ext cx="2548890" cy="381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7940" y="1737360"/>
            <a:ext cx="2228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B39DFF"/>
                </a:solidFill>
                <a:latin typeface="Consolas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7940" y="2057400"/>
            <a:ext cx="2228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Scale-out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2560320"/>
            <a:ext cx="222885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Roll across agencies. Integrations 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planning tools &amp; portals. FinOps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dashboards, caching, SLAs.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554480"/>
            <a:ext cx="2548890" cy="274320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2550" y="1554480"/>
            <a:ext cx="2548890" cy="38100"/>
          </a:xfrm>
          <a:prstGeom prst="rect">
            <a:avLst/>
          </a:prstGeom>
          <a:solidFill>
            <a:srgbClr val="F2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430" y="1737360"/>
            <a:ext cx="2228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2A6C9"/>
                </a:solidFill>
                <a:latin typeface="Consolas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5430" y="2057400"/>
            <a:ext cx="2228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Group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5430" y="2560320"/>
            <a:ext cx="222885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Bedrock/Vertex for in-tenant traffic,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data-residency options, human-review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7CFE0"/>
                </a:solidFill>
                <a:latin typeface="Calibri"/>
              </a:rPr>
              <a:t>workflow, model governance board.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51B2C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93E6C3"/>
                </a:solidFill>
                <a:latin typeface="Consolas"/>
              </a:rPr>
              <a:t>PRODUCTION-READY TODAY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C7CFE0"/>
                </a:solidFill>
                <a:latin typeface="Calibri"/>
              </a:rPr>
              <a:t>End-to-end pipeline · provider abstraction with real Anthropic/Tavily/Voyage integrations · cost estimator &amp; metering · spend caps · session auth · self-host.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6634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FC29E"/>
                </a:solidFill>
                <a:latin typeface="Consolas"/>
              </a:rPr>
              <a:t>ENGINEERED, ON THE ROADMAP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C7CFE0"/>
                </a:solidFill>
                <a:latin typeface="Calibri"/>
              </a:rPr>
              <a:t>SSO/SCIM · multi-tenant RBAC · Postgres + job queue · Bedrock/Vertex · review-workflow UI · FinOps dashboards. Scoped in Phases 1–3 above.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B3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39DFF"/>
                </a:solidFill>
                <a:latin typeface="Consola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F5F7FA"/>
                </a:solidFill>
                <a:latin typeface="Georgia"/>
              </a:rPr>
              <a:t>Let's run a scoped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4241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B39DFF"/>
                </a:solidFill>
                <a:latin typeface="Calibri"/>
              </a:rPr>
              <a:t>▸  </a:t>
            </a:r>
            <a:r>
              <a:rPr sz="1350" b="1">
                <a:solidFill>
                  <a:srgbClr val="F5F7FA"/>
                </a:solidFill>
                <a:latin typeface="Calibri"/>
              </a:rPr>
              <a:t>Select one agency and 2–3 live client brands — </a:t>
            </a:r>
            <a:r>
              <a:rPr sz="1350" b="0">
                <a:solidFill>
                  <a:srgbClr val="C7CFE0"/>
                </a:solidFill>
                <a:latin typeface="Calibri"/>
              </a:rPr>
              <a:t>we stand up a self-hosted instance in your cloud.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B39DFF"/>
                </a:solidFill>
                <a:latin typeface="Calibri"/>
              </a:rPr>
              <a:t>▸  </a:t>
            </a:r>
            <a:r>
              <a:rPr sz="1350" b="1">
                <a:solidFill>
                  <a:srgbClr val="F5F7FA"/>
                </a:solidFill>
                <a:latin typeface="Calibri"/>
              </a:rPr>
              <a:t>Agree a monthly spend cap — </a:t>
            </a:r>
            <a:r>
              <a:rPr sz="1350" b="0">
                <a:solidFill>
                  <a:srgbClr val="C7CFE0"/>
                </a:solidFill>
                <a:latin typeface="Calibri"/>
              </a:rPr>
              <a:t>you see estimated and actual token cost on every scan from day one.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B39DFF"/>
                </a:solidFill>
                <a:latin typeface="Calibri"/>
              </a:rPr>
              <a:t>▸  </a:t>
            </a:r>
            <a:r>
              <a:rPr sz="1350" b="1">
                <a:solidFill>
                  <a:srgbClr val="F5F7FA"/>
                </a:solidFill>
                <a:latin typeface="Calibri"/>
              </a:rPr>
              <a:t>Security &amp; architecture review — </a:t>
            </a:r>
            <a:r>
              <a:rPr sz="1350" b="0">
                <a:solidFill>
                  <a:srgbClr val="C7CFE0"/>
                </a:solidFill>
                <a:latin typeface="Calibri"/>
              </a:rPr>
              <a:t>we walk your team through key custody, isolation and the provider posture.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B39DFF"/>
                </a:solidFill>
                <a:latin typeface="Calibri"/>
              </a:rPr>
              <a:t>▸  </a:t>
            </a:r>
            <a:r>
              <a:rPr sz="1350" b="1">
                <a:solidFill>
                  <a:srgbClr val="F5F7FA"/>
                </a:solidFill>
                <a:latin typeface="Calibri"/>
              </a:rPr>
              <a:t>Define the success test — </a:t>
            </a:r>
            <a:r>
              <a:rPr sz="1350" b="0">
                <a:solidFill>
                  <a:srgbClr val="C7CFE0"/>
                </a:solidFill>
                <a:latin typeface="Calibri"/>
              </a:rPr>
              <a:t>a foresight dossier your planners would actually put in front of a client.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0E1320"/>
          </a:solidFill>
          <a:ln w="12700">
            <a:solidFill>
              <a:srgbClr val="B3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C7CFE0"/>
                </a:solidFill>
                <a:latin typeface="Calibri"/>
              </a:rPr>
              <a:t>A pilot's entire provider cost sits in the tens of dollars — the decision is about fit and governance, not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